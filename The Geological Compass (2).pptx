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3" r:id="rId9"/>
    <p:sldId id="276" r:id="rId10"/>
    <p:sldId id="273" r:id="rId11"/>
    <p:sldId id="272" r:id="rId12"/>
    <p:sldId id="271" r:id="rId13"/>
    <p:sldId id="266" r:id="rId14"/>
    <p:sldId id="274" r:id="rId15"/>
    <p:sldId id="267" r:id="rId16"/>
    <p:sldId id="277" r:id="rId17"/>
    <p:sldId id="280" r:id="rId18"/>
    <p:sldId id="285" r:id="rId19"/>
    <p:sldId id="268" r:id="rId20"/>
    <p:sldId id="278" r:id="rId21"/>
    <p:sldId id="269" r:id="rId22"/>
    <p:sldId id="279" r:id="rId23"/>
    <p:sldId id="275" r:id="rId24"/>
    <p:sldId id="264" r:id="rId25"/>
    <p:sldId id="281" r:id="rId26"/>
    <p:sldId id="282" r:id="rId27"/>
    <p:sldId id="283"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41" autoAdjust="0"/>
    <p:restoredTop sz="94660"/>
  </p:normalViewPr>
  <p:slideViewPr>
    <p:cSldViewPr>
      <p:cViewPr varScale="1">
        <p:scale>
          <a:sx n="70" d="100"/>
          <a:sy n="70" d="100"/>
        </p:scale>
        <p:origin x="1896" y="2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2009F213-DB24-436F-854C-036A0F7E6A5B}" type="datetimeFigureOut">
              <a:rPr lang="en-ZA" smtClean="0"/>
              <a:t>2026/04/07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4039288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2009F213-DB24-436F-854C-036A0F7E6A5B}" type="datetimeFigureOut">
              <a:rPr lang="en-ZA" smtClean="0"/>
              <a:t>2026/04/07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1184488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09F213-DB24-436F-854C-036A0F7E6A5B}" type="datetimeFigureOut">
              <a:rPr lang="en-ZA" smtClean="0"/>
              <a:t>2026/04/07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1570329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fld id="{2009F213-DB24-436F-854C-036A0F7E6A5B}" type="datetimeFigureOut">
              <a:rPr lang="en-ZA" smtClean="0"/>
              <a:t>2026/04/07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3170297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fld id="{2009F213-DB24-436F-854C-036A0F7E6A5B}" type="datetimeFigureOut">
              <a:rPr lang="en-ZA" smtClean="0"/>
              <a:t>2026/04/07</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2823464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2009F213-DB24-436F-854C-036A0F7E6A5B}" type="datetimeFigureOut">
              <a:rPr lang="en-ZA" smtClean="0"/>
              <a:t>2026/04/07</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3727738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9F213-DB24-436F-854C-036A0F7E6A5B}" type="datetimeFigureOut">
              <a:rPr lang="en-ZA" smtClean="0"/>
              <a:t>2026/04/07</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3790179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09F213-DB24-436F-854C-036A0F7E6A5B}" type="datetimeFigureOut">
              <a:rPr lang="en-ZA" smtClean="0"/>
              <a:t>2026/04/07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3083830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09F213-DB24-436F-854C-036A0F7E6A5B}" type="datetimeFigureOut">
              <a:rPr lang="en-ZA" smtClean="0"/>
              <a:t>2026/04/07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676232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2009F213-DB24-436F-854C-036A0F7E6A5B}" type="datetimeFigureOut">
              <a:rPr lang="en-ZA" smtClean="0"/>
              <a:t>2026/04/07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3804562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2009F213-DB24-436F-854C-036A0F7E6A5B}" type="datetimeFigureOut">
              <a:rPr lang="en-ZA" smtClean="0"/>
              <a:t>2026/04/07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69F975F-EBC3-498B-AB44-8D4419A73E42}" type="slidenum">
              <a:rPr lang="en-ZA" smtClean="0"/>
              <a:t>‹#›</a:t>
            </a:fld>
            <a:endParaRPr lang="en-ZA"/>
          </a:p>
        </p:txBody>
      </p:sp>
    </p:spTree>
    <p:extLst>
      <p:ext uri="{BB962C8B-B14F-4D97-AF65-F5344CB8AC3E}">
        <p14:creationId xmlns:p14="http://schemas.microsoft.com/office/powerpoint/2010/main" val="2420792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09F213-DB24-436F-854C-036A0F7E6A5B}" type="datetimeFigureOut">
              <a:rPr lang="en-ZA" smtClean="0"/>
              <a:t>2026/04/07</a:t>
            </a:fld>
            <a:endParaRPr lang="en-Z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9F975F-EBC3-498B-AB44-8D4419A73E42}" type="slidenum">
              <a:rPr lang="en-ZA" smtClean="0"/>
              <a:t>‹#›</a:t>
            </a:fld>
            <a:endParaRPr lang="en-ZA"/>
          </a:p>
        </p:txBody>
      </p:sp>
    </p:spTree>
    <p:extLst>
      <p:ext uri="{BB962C8B-B14F-4D97-AF65-F5344CB8AC3E}">
        <p14:creationId xmlns:p14="http://schemas.microsoft.com/office/powerpoint/2010/main" val="698877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ZA" dirty="0"/>
              <a:t>The Geological Compass</a:t>
            </a:r>
          </a:p>
        </p:txBody>
      </p:sp>
      <p:sp>
        <p:nvSpPr>
          <p:cNvPr id="3" name="Subtitle 2"/>
          <p:cNvSpPr>
            <a:spLocks noGrp="1"/>
          </p:cNvSpPr>
          <p:nvPr>
            <p:ph type="subTitle" idx="1"/>
          </p:nvPr>
        </p:nvSpPr>
        <p:spPr/>
        <p:txBody>
          <a:bodyPr/>
          <a:lstStyle/>
          <a:p>
            <a:endParaRPr lang="en-ZA"/>
          </a:p>
        </p:txBody>
      </p:sp>
    </p:spTree>
    <p:extLst>
      <p:ext uri="{BB962C8B-B14F-4D97-AF65-F5344CB8AC3E}">
        <p14:creationId xmlns:p14="http://schemas.microsoft.com/office/powerpoint/2010/main" val="1121755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Krantz, Freiberger and Silva compasses</a:t>
            </a:r>
            <a:endParaRPr lang="en-ZA"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54691" y="1600200"/>
            <a:ext cx="6034617" cy="4525963"/>
          </a:xfrm>
        </p:spPr>
      </p:pic>
    </p:spTree>
    <p:extLst>
      <p:ext uri="{BB962C8B-B14F-4D97-AF65-F5344CB8AC3E}">
        <p14:creationId xmlns:p14="http://schemas.microsoft.com/office/powerpoint/2010/main" val="173344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Compasses at UWC</a:t>
            </a:r>
            <a:endParaRPr lang="en-ZA"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54691" y="1600200"/>
            <a:ext cx="6034617" cy="4525963"/>
          </a:xfrm>
        </p:spPr>
      </p:pic>
    </p:spTree>
    <p:extLst>
      <p:ext uri="{BB962C8B-B14F-4D97-AF65-F5344CB8AC3E}">
        <p14:creationId xmlns:p14="http://schemas.microsoft.com/office/powerpoint/2010/main" val="1944183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Freiberger compass</a:t>
            </a:r>
            <a:endParaRPr lang="en-ZA"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54691" y="1600200"/>
            <a:ext cx="6034617" cy="4525963"/>
          </a:xfrm>
        </p:spPr>
      </p:pic>
    </p:spTree>
    <p:extLst>
      <p:ext uri="{BB962C8B-B14F-4D97-AF65-F5344CB8AC3E}">
        <p14:creationId xmlns:p14="http://schemas.microsoft.com/office/powerpoint/2010/main" val="969381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Silva compass</a:t>
            </a:r>
            <a:endParaRPr lang="en-ZA"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54691" y="1600200"/>
            <a:ext cx="6034617" cy="4525963"/>
          </a:xfrm>
        </p:spPr>
      </p:pic>
    </p:spTree>
    <p:extLst>
      <p:ext uri="{BB962C8B-B14F-4D97-AF65-F5344CB8AC3E}">
        <p14:creationId xmlns:p14="http://schemas.microsoft.com/office/powerpoint/2010/main" val="1173609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Why Measure?</a:t>
            </a:r>
          </a:p>
        </p:txBody>
      </p:sp>
      <p:sp>
        <p:nvSpPr>
          <p:cNvPr id="3" name="Content Placeholder 2"/>
          <p:cNvSpPr>
            <a:spLocks noGrp="1"/>
          </p:cNvSpPr>
          <p:nvPr>
            <p:ph idx="1"/>
          </p:nvPr>
        </p:nvSpPr>
        <p:spPr/>
        <p:txBody>
          <a:bodyPr>
            <a:normAutofit fontScale="85000" lnSpcReduction="10000"/>
          </a:bodyPr>
          <a:lstStyle/>
          <a:p>
            <a:r>
              <a:rPr lang="en-ZA" dirty="0"/>
              <a:t>Geology works with a 4-D model: Time and the usual 3 dimensions. This means that we need to get the three dimensions from our field records and this is structural geology</a:t>
            </a:r>
          </a:p>
          <a:p>
            <a:r>
              <a:rPr lang="en-ZA" dirty="0"/>
              <a:t>Describing the orientation of geological structures is therefor the  basis of structural geology. </a:t>
            </a:r>
          </a:p>
          <a:p>
            <a:r>
              <a:rPr lang="en-ZA" dirty="0"/>
              <a:t>Despite the advent of digital techniques, the magnetic compass remains the most practical, simple and commonly used instrument to record orientations in the field, and every geologist needs to become thoroughly proficient in the use of the compass. </a:t>
            </a:r>
          </a:p>
          <a:p>
            <a:endParaRPr lang="en-ZA" dirty="0"/>
          </a:p>
        </p:txBody>
      </p:sp>
    </p:spTree>
    <p:extLst>
      <p:ext uri="{BB962C8B-B14F-4D97-AF65-F5344CB8AC3E}">
        <p14:creationId xmlns:p14="http://schemas.microsoft.com/office/powerpoint/2010/main" val="5564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What to measure</a:t>
            </a:r>
          </a:p>
        </p:txBody>
      </p:sp>
      <p:sp>
        <p:nvSpPr>
          <p:cNvPr id="3" name="Content Placeholder 2"/>
          <p:cNvSpPr>
            <a:spLocks noGrp="1"/>
          </p:cNvSpPr>
          <p:nvPr>
            <p:ph idx="1"/>
          </p:nvPr>
        </p:nvSpPr>
        <p:spPr/>
        <p:txBody>
          <a:bodyPr/>
          <a:lstStyle/>
          <a:p>
            <a:r>
              <a:rPr lang="en-ZA" dirty="0"/>
              <a:t>The orientation of planar and linear features</a:t>
            </a:r>
          </a:p>
          <a:p>
            <a:r>
              <a:rPr lang="en-ZA" dirty="0"/>
              <a:t>For Planar features you measure the </a:t>
            </a:r>
            <a:r>
              <a:rPr lang="en-ZA" b="1" dirty="0"/>
              <a:t>direction of dip (also called  “dip azimuth”)</a:t>
            </a:r>
            <a:r>
              <a:rPr lang="en-ZA" dirty="0"/>
              <a:t> and </a:t>
            </a:r>
            <a:r>
              <a:rPr lang="en-ZA" b="1" dirty="0"/>
              <a:t>dip</a:t>
            </a:r>
          </a:p>
          <a:p>
            <a:r>
              <a:rPr lang="en-ZA" dirty="0"/>
              <a:t>Linear features you measure the </a:t>
            </a:r>
            <a:r>
              <a:rPr lang="en-ZA" b="1" dirty="0"/>
              <a:t>trend</a:t>
            </a:r>
            <a:r>
              <a:rPr lang="en-ZA" dirty="0"/>
              <a:t> and </a:t>
            </a:r>
            <a:r>
              <a:rPr lang="en-ZA" b="1" dirty="0"/>
              <a:t>plunge of the linear feature</a:t>
            </a:r>
            <a:r>
              <a:rPr lang="en-ZA" dirty="0"/>
              <a:t> </a:t>
            </a:r>
          </a:p>
        </p:txBody>
      </p:sp>
    </p:spTree>
    <p:extLst>
      <p:ext uri="{BB962C8B-B14F-4D97-AF65-F5344CB8AC3E}">
        <p14:creationId xmlns:p14="http://schemas.microsoft.com/office/powerpoint/2010/main" val="249384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Dip</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8340" y="1844824"/>
            <a:ext cx="8238600" cy="4032447"/>
          </a:xfrm>
        </p:spPr>
      </p:pic>
    </p:spTree>
    <p:extLst>
      <p:ext uri="{BB962C8B-B14F-4D97-AF65-F5344CB8AC3E}">
        <p14:creationId xmlns:p14="http://schemas.microsoft.com/office/powerpoint/2010/main" val="1678443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Dip</a:t>
            </a:r>
          </a:p>
        </p:txBody>
      </p:sp>
      <p:sp>
        <p:nvSpPr>
          <p:cNvPr id="3" name="Content Placeholder 2"/>
          <p:cNvSpPr>
            <a:spLocks noGrp="1"/>
          </p:cNvSpPr>
          <p:nvPr>
            <p:ph idx="1"/>
          </p:nvPr>
        </p:nvSpPr>
        <p:spPr/>
        <p:txBody>
          <a:bodyPr/>
          <a:lstStyle/>
          <a:p>
            <a:r>
              <a:rPr lang="en-ZA" dirty="0"/>
              <a:t>The dip is the angle of maximum inclination on the plane</a:t>
            </a:r>
          </a:p>
        </p:txBody>
      </p:sp>
    </p:spTree>
    <p:extLst>
      <p:ext uri="{BB962C8B-B14F-4D97-AF65-F5344CB8AC3E}">
        <p14:creationId xmlns:p14="http://schemas.microsoft.com/office/powerpoint/2010/main" val="3848321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STRIKE</a:t>
            </a:r>
          </a:p>
        </p:txBody>
      </p:sp>
      <p:sp>
        <p:nvSpPr>
          <p:cNvPr id="3" name="Content Placeholder 2"/>
          <p:cNvSpPr>
            <a:spLocks noGrp="1"/>
          </p:cNvSpPr>
          <p:nvPr>
            <p:ph idx="1"/>
          </p:nvPr>
        </p:nvSpPr>
        <p:spPr/>
        <p:txBody>
          <a:bodyPr>
            <a:normAutofit fontScale="92500" lnSpcReduction="10000"/>
          </a:bodyPr>
          <a:lstStyle/>
          <a:p>
            <a:r>
              <a:rPr lang="en-ZA" dirty="0"/>
              <a:t>The strike is the direction of any and all horizontal lines on a plane. Every inclined plane will contain an infinite number of strike lines, each of them different distances above or below a horizontal datum. </a:t>
            </a:r>
          </a:p>
          <a:p>
            <a:r>
              <a:rPr lang="en-ZA" dirty="0"/>
              <a:t>All strike lines on that plane must therefore be parallel to each other. That is, all strike lines of a plane will have the same bearing or orientation in space. That is why we can define a single strike for any plane. </a:t>
            </a:r>
          </a:p>
          <a:p>
            <a:endParaRPr lang="en-ZA" dirty="0"/>
          </a:p>
        </p:txBody>
      </p:sp>
    </p:spTree>
    <p:extLst>
      <p:ext uri="{BB962C8B-B14F-4D97-AF65-F5344CB8AC3E}">
        <p14:creationId xmlns:p14="http://schemas.microsoft.com/office/powerpoint/2010/main" val="395675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dirty="0"/>
              <a:t>Strike, here shown as the dotted line; dip is  indicated by  the arrow</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330" y="2132856"/>
            <a:ext cx="8457340" cy="4176464"/>
          </a:xfrm>
        </p:spPr>
      </p:pic>
    </p:spTree>
    <p:extLst>
      <p:ext uri="{BB962C8B-B14F-4D97-AF65-F5344CB8AC3E}">
        <p14:creationId xmlns:p14="http://schemas.microsoft.com/office/powerpoint/2010/main" val="320124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DIP / Direction of Dip</a:t>
            </a:r>
          </a:p>
        </p:txBody>
      </p:sp>
      <p:sp>
        <p:nvSpPr>
          <p:cNvPr id="3" name="Content Placeholder 2"/>
          <p:cNvSpPr>
            <a:spLocks noGrp="1"/>
          </p:cNvSpPr>
          <p:nvPr>
            <p:ph idx="1"/>
          </p:nvPr>
        </p:nvSpPr>
        <p:spPr/>
        <p:txBody>
          <a:bodyPr>
            <a:normAutofit fontScale="92500" lnSpcReduction="10000"/>
          </a:bodyPr>
          <a:lstStyle/>
          <a:p>
            <a:r>
              <a:rPr lang="en-ZA" dirty="0"/>
              <a:t>The dip is the angle of maximum inclination on the plane. </a:t>
            </a:r>
          </a:p>
          <a:p>
            <a:r>
              <a:rPr lang="en-ZA" dirty="0"/>
              <a:t>The direction of the dip is necessarily perpendicular to the strike line. As with a plunge, we always measure the dip downward from horizontal. </a:t>
            </a:r>
          </a:p>
          <a:p>
            <a:r>
              <a:rPr lang="en-ZA" dirty="0"/>
              <a:t>The value of the dip varies from 0 to 90. So, a horizontal book has a dip of 0, a vertical book has a dip of 90, a book that is oriented halfway between these end-members has a dip of 45, etc. </a:t>
            </a:r>
          </a:p>
          <a:p>
            <a:endParaRPr lang="en-ZA" dirty="0"/>
          </a:p>
        </p:txBody>
      </p:sp>
    </p:spTree>
    <p:extLst>
      <p:ext uri="{BB962C8B-B14F-4D97-AF65-F5344CB8AC3E}">
        <p14:creationId xmlns:p14="http://schemas.microsoft.com/office/powerpoint/2010/main" val="417634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Azimuth</a:t>
            </a:r>
          </a:p>
        </p:txBody>
      </p:sp>
      <p:sp>
        <p:nvSpPr>
          <p:cNvPr id="3" name="Content Placeholder 2"/>
          <p:cNvSpPr>
            <a:spLocks noGrp="1"/>
          </p:cNvSpPr>
          <p:nvPr>
            <p:ph idx="1"/>
          </p:nvPr>
        </p:nvSpPr>
        <p:spPr/>
        <p:txBody>
          <a:bodyPr>
            <a:normAutofit lnSpcReduction="10000"/>
          </a:bodyPr>
          <a:lstStyle/>
          <a:p>
            <a:r>
              <a:rPr lang="en-ZA" dirty="0"/>
              <a:t>An azimuth is one way of designating a direction, or bearing, on a horizontal plane, in space .</a:t>
            </a:r>
          </a:p>
          <a:p>
            <a:r>
              <a:rPr lang="en-ZA" dirty="0"/>
              <a:t>We use the </a:t>
            </a:r>
            <a:r>
              <a:rPr lang="en-ZA" b="1" dirty="0"/>
              <a:t>geographic</a:t>
            </a:r>
            <a:r>
              <a:rPr lang="en-ZA" dirty="0"/>
              <a:t> North pole, the point where the Earth’s axis of rotation intersects its surface, as our reference for reckoning directions. We call the direction along which one would need to travel to reach the geographic North pole ‘North.’ </a:t>
            </a:r>
          </a:p>
          <a:p>
            <a:endParaRPr lang="en-ZA" dirty="0"/>
          </a:p>
        </p:txBody>
      </p:sp>
    </p:spTree>
    <p:extLst>
      <p:ext uri="{BB962C8B-B14F-4D97-AF65-F5344CB8AC3E}">
        <p14:creationId xmlns:p14="http://schemas.microsoft.com/office/powerpoint/2010/main" val="4811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Azimuth - 2</a:t>
            </a:r>
          </a:p>
        </p:txBody>
      </p:sp>
      <p:sp>
        <p:nvSpPr>
          <p:cNvPr id="3" name="Content Placeholder 2"/>
          <p:cNvSpPr>
            <a:spLocks noGrp="1"/>
          </p:cNvSpPr>
          <p:nvPr>
            <p:ph idx="1"/>
          </p:nvPr>
        </p:nvSpPr>
        <p:spPr/>
        <p:txBody>
          <a:bodyPr>
            <a:normAutofit fontScale="92500" lnSpcReduction="10000"/>
          </a:bodyPr>
          <a:lstStyle/>
          <a:p>
            <a:r>
              <a:rPr lang="en-ZA" dirty="0"/>
              <a:t>Azimuths range from 0 (North) to  360 (also North), read in a clockwise fashion. </a:t>
            </a:r>
          </a:p>
          <a:p>
            <a:r>
              <a:rPr lang="en-ZA" dirty="0"/>
              <a:t>Consequently, 090 is East, 180 is South, and 270 is West. Note that we use 3 digits (002, 087, 120 etc.) to define an azimuth and that we drop the degree (º) sign. North is always toward the top of the page on maps. Azimuths are commonly used by navigators of all sorts, but particularly by sailors who are unconstrained by obstacles and can go in any direction. </a:t>
            </a:r>
          </a:p>
          <a:p>
            <a:endParaRPr lang="en-ZA" dirty="0"/>
          </a:p>
        </p:txBody>
      </p:sp>
    </p:spTree>
    <p:extLst>
      <p:ext uri="{BB962C8B-B14F-4D97-AF65-F5344CB8AC3E}">
        <p14:creationId xmlns:p14="http://schemas.microsoft.com/office/powerpoint/2010/main" val="7528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Magnetic declination</a:t>
            </a:r>
          </a:p>
        </p:txBody>
      </p:sp>
      <p:sp>
        <p:nvSpPr>
          <p:cNvPr id="3" name="Content Placeholder 2"/>
          <p:cNvSpPr>
            <a:spLocks noGrp="1"/>
          </p:cNvSpPr>
          <p:nvPr>
            <p:ph idx="1"/>
          </p:nvPr>
        </p:nvSpPr>
        <p:spPr/>
        <p:txBody>
          <a:bodyPr>
            <a:normAutofit fontScale="92500" lnSpcReduction="20000"/>
          </a:bodyPr>
          <a:lstStyle/>
          <a:p>
            <a:r>
              <a:rPr lang="en-ZA" dirty="0"/>
              <a:t>The axis of Earth’s magnetic field does not coincide with Earth’s rotation axis, so the magnetic North pole does not coincide with the geographic North pole. In addition, the magnetic North shifts over  time.</a:t>
            </a:r>
          </a:p>
          <a:p>
            <a:r>
              <a:rPr lang="en-ZA" dirty="0"/>
              <a:t>Because the compass always points to the magnetic North pole, there is at most locations on Earth an angular difference, called the magnetic declination between the direction in which the compass needle points and geographic North. </a:t>
            </a:r>
          </a:p>
          <a:p>
            <a:endParaRPr lang="en-ZA" dirty="0"/>
          </a:p>
        </p:txBody>
      </p:sp>
    </p:spTree>
    <p:extLst>
      <p:ext uri="{BB962C8B-B14F-4D97-AF65-F5344CB8AC3E}">
        <p14:creationId xmlns:p14="http://schemas.microsoft.com/office/powerpoint/2010/main" val="150879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Declination</a:t>
            </a:r>
          </a:p>
        </p:txBody>
      </p:sp>
      <p:sp>
        <p:nvSpPr>
          <p:cNvPr id="3" name="Content Placeholder 2"/>
          <p:cNvSpPr>
            <a:spLocks noGrp="1"/>
          </p:cNvSpPr>
          <p:nvPr>
            <p:ph idx="1"/>
          </p:nvPr>
        </p:nvSpPr>
        <p:spPr/>
        <p:txBody>
          <a:bodyPr>
            <a:normAutofit lnSpcReduction="10000"/>
          </a:bodyPr>
          <a:lstStyle/>
          <a:p>
            <a:r>
              <a:rPr lang="en-ZA" dirty="0"/>
              <a:t>The magnetic declination is the angle, measured in a horizontal plane, between the direction towards the geographic North pole and the direction to the magnetic North pole. A declination of 10° west means that the magnetic North pole is oriented 10° west of north (i.e. counter clockwise) from the geographic North pole. The declination differs from one geographic position  to the other so must always be checked.</a:t>
            </a:r>
          </a:p>
          <a:p>
            <a:endParaRPr lang="en-ZA" dirty="0"/>
          </a:p>
        </p:txBody>
      </p:sp>
    </p:spTree>
    <p:extLst>
      <p:ext uri="{BB962C8B-B14F-4D97-AF65-F5344CB8AC3E}">
        <p14:creationId xmlns:p14="http://schemas.microsoft.com/office/powerpoint/2010/main" val="1035840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D1461-4DCA-94C2-6394-B6C2826FA4DC}"/>
              </a:ext>
            </a:extLst>
          </p:cNvPr>
          <p:cNvSpPr>
            <a:spLocks noGrp="1"/>
          </p:cNvSpPr>
          <p:nvPr>
            <p:ph type="title"/>
          </p:nvPr>
        </p:nvSpPr>
        <p:spPr/>
        <p:txBody>
          <a:bodyPr/>
          <a:lstStyle/>
          <a:p>
            <a:r>
              <a:rPr lang="en-US" dirty="0"/>
              <a:t>Adjustment of compass</a:t>
            </a:r>
            <a:endParaRPr lang="en-ZA" dirty="0"/>
          </a:p>
        </p:txBody>
      </p:sp>
      <p:sp>
        <p:nvSpPr>
          <p:cNvPr id="3" name="Content Placeholder 2">
            <a:extLst>
              <a:ext uri="{FF2B5EF4-FFF2-40B4-BE49-F238E27FC236}">
                <a16:creationId xmlns:a16="http://schemas.microsoft.com/office/drawing/2014/main" id="{F473B9C2-90C1-8BB4-2E1D-F1DA3F5E899A}"/>
              </a:ext>
            </a:extLst>
          </p:cNvPr>
          <p:cNvSpPr>
            <a:spLocks noGrp="1"/>
          </p:cNvSpPr>
          <p:nvPr>
            <p:ph idx="1"/>
          </p:nvPr>
        </p:nvSpPr>
        <p:spPr/>
        <p:txBody>
          <a:bodyPr/>
          <a:lstStyle/>
          <a:p>
            <a:r>
              <a:rPr lang="en-US" dirty="0"/>
              <a:t>As the  magnetic declination differs from place to place, we need to establish its value at  the place we will use the compass and adjust  the compass accordingly or, if  that  is not possible, adjust  the readings according  to the local magnetic declination. This adjustment is critical as it can  be more than 20 degrees at  several places.</a:t>
            </a:r>
            <a:endParaRPr lang="en-ZA" dirty="0"/>
          </a:p>
        </p:txBody>
      </p:sp>
    </p:spTree>
    <p:extLst>
      <p:ext uri="{BB962C8B-B14F-4D97-AF65-F5344CB8AC3E}">
        <p14:creationId xmlns:p14="http://schemas.microsoft.com/office/powerpoint/2010/main" val="4200739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23579-A8F9-8601-A477-1693D081412F}"/>
              </a:ext>
            </a:extLst>
          </p:cNvPr>
          <p:cNvSpPr>
            <a:spLocks noGrp="1"/>
          </p:cNvSpPr>
          <p:nvPr>
            <p:ph type="title"/>
          </p:nvPr>
        </p:nvSpPr>
        <p:spPr/>
        <p:txBody>
          <a:bodyPr/>
          <a:lstStyle/>
          <a:p>
            <a:r>
              <a:rPr lang="en-US" dirty="0"/>
              <a:t>Adjustment of compass</a:t>
            </a:r>
            <a:endParaRPr lang="en-ZA" dirty="0"/>
          </a:p>
        </p:txBody>
      </p:sp>
      <p:sp>
        <p:nvSpPr>
          <p:cNvPr id="3" name="Content Placeholder 2">
            <a:extLst>
              <a:ext uri="{FF2B5EF4-FFF2-40B4-BE49-F238E27FC236}">
                <a16:creationId xmlns:a16="http://schemas.microsoft.com/office/drawing/2014/main" id="{14D61378-160F-3CD2-6840-382AD20EBC0D}"/>
              </a:ext>
            </a:extLst>
          </p:cNvPr>
          <p:cNvSpPr>
            <a:spLocks noGrp="1"/>
          </p:cNvSpPr>
          <p:nvPr>
            <p:ph idx="1"/>
          </p:nvPr>
        </p:nvSpPr>
        <p:spPr/>
        <p:txBody>
          <a:bodyPr/>
          <a:lstStyle/>
          <a:p>
            <a:r>
              <a:rPr lang="en-US" dirty="0"/>
              <a:t>The Krantz and  Freiberger have a little  screw that  allows us to adjust  the  declination. </a:t>
            </a:r>
          </a:p>
          <a:p>
            <a:r>
              <a:rPr lang="en-US" dirty="0"/>
              <a:t>The Sylva  has a little bronze screw in the black ring and a pointed tool at the long string that fits the screw to move the red </a:t>
            </a:r>
            <a:r>
              <a:rPr lang="en-US" dirty="0" err="1"/>
              <a:t>arroe</a:t>
            </a:r>
            <a:r>
              <a:rPr lang="en-US" dirty="0"/>
              <a:t> until it points at  the correct number of degrees W of N.</a:t>
            </a:r>
            <a:endParaRPr lang="en-ZA" dirty="0"/>
          </a:p>
        </p:txBody>
      </p:sp>
    </p:spTree>
    <p:extLst>
      <p:ext uri="{BB962C8B-B14F-4D97-AF65-F5344CB8AC3E}">
        <p14:creationId xmlns:p14="http://schemas.microsoft.com/office/powerpoint/2010/main" val="1337924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Trend</a:t>
            </a:r>
          </a:p>
        </p:txBody>
      </p:sp>
      <p:sp>
        <p:nvSpPr>
          <p:cNvPr id="3" name="Content Placeholder 2"/>
          <p:cNvSpPr>
            <a:spLocks noGrp="1"/>
          </p:cNvSpPr>
          <p:nvPr>
            <p:ph idx="1"/>
          </p:nvPr>
        </p:nvSpPr>
        <p:spPr/>
        <p:txBody>
          <a:bodyPr>
            <a:normAutofit fontScale="92500"/>
          </a:bodyPr>
          <a:lstStyle/>
          <a:p>
            <a:r>
              <a:rPr lang="en-ZA" dirty="0"/>
              <a:t>We use two numbers to describe the orientation of a linear element or lineation in space: </a:t>
            </a:r>
          </a:p>
          <a:p>
            <a:r>
              <a:rPr lang="en-ZA" b="1" dirty="0"/>
              <a:t>Trend and plunge </a:t>
            </a:r>
          </a:p>
          <a:p>
            <a:r>
              <a:rPr lang="en-ZA" dirty="0"/>
              <a:t>The trend (also called the plunge bearing ) is the angle  between a line, or its projection onto the horizontal plane (what you would see when looking vertically down on the linear element from above), with respect to North, measured in a clockwise  manner. </a:t>
            </a:r>
          </a:p>
        </p:txBody>
      </p:sp>
    </p:spTree>
    <p:extLst>
      <p:ext uri="{BB962C8B-B14F-4D97-AF65-F5344CB8AC3E}">
        <p14:creationId xmlns:p14="http://schemas.microsoft.com/office/powerpoint/2010/main" val="249435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Trend/ plunge</a:t>
            </a:r>
          </a:p>
        </p:txBody>
      </p:sp>
      <p:sp>
        <p:nvSpPr>
          <p:cNvPr id="3" name="Content Placeholder 2"/>
          <p:cNvSpPr>
            <a:spLocks noGrp="1"/>
          </p:cNvSpPr>
          <p:nvPr>
            <p:ph idx="1"/>
          </p:nvPr>
        </p:nvSpPr>
        <p:spPr/>
        <p:txBody>
          <a:bodyPr/>
          <a:lstStyle/>
          <a:p>
            <a:r>
              <a:rPr lang="en-ZA" dirty="0"/>
              <a:t>We usually give the trend as an azimuth, varying from 000 to 360, and always written with three numbers (e.g., 005). For example, if you place a pencil on the ground, with the point oriented toward N, the linear element (i.e. pencil) would have a trend of 000. If the pencil were oriented NE, it would have a trend of 045. </a:t>
            </a:r>
          </a:p>
          <a:p>
            <a:endParaRPr lang="en-ZA" dirty="0"/>
          </a:p>
        </p:txBody>
      </p:sp>
    </p:spTree>
    <p:extLst>
      <p:ext uri="{BB962C8B-B14F-4D97-AF65-F5344CB8AC3E}">
        <p14:creationId xmlns:p14="http://schemas.microsoft.com/office/powerpoint/2010/main" val="3226650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Plunge</a:t>
            </a:r>
          </a:p>
        </p:txBody>
      </p:sp>
      <p:sp>
        <p:nvSpPr>
          <p:cNvPr id="3" name="Content Placeholder 2"/>
          <p:cNvSpPr>
            <a:spLocks noGrp="1"/>
          </p:cNvSpPr>
          <p:nvPr>
            <p:ph idx="1"/>
          </p:nvPr>
        </p:nvSpPr>
        <p:spPr/>
        <p:txBody>
          <a:bodyPr>
            <a:normAutofit/>
          </a:bodyPr>
          <a:lstStyle/>
          <a:p>
            <a:r>
              <a:rPr lang="en-ZA" dirty="0"/>
              <a:t>The plunge (or inclination) of any linear element is the angle measured  downward from  the horizontal to the line in a  vertical plane. That vertical plane is oriented in the direction of the trend </a:t>
            </a:r>
          </a:p>
          <a:p>
            <a:endParaRPr lang="en-ZA" dirty="0"/>
          </a:p>
        </p:txBody>
      </p:sp>
    </p:spTree>
    <p:extLst>
      <p:ext uri="{BB962C8B-B14F-4D97-AF65-F5344CB8AC3E}">
        <p14:creationId xmlns:p14="http://schemas.microsoft.com/office/powerpoint/2010/main" val="1694796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Plunge</a:t>
            </a:r>
          </a:p>
        </p:txBody>
      </p:sp>
      <p:sp>
        <p:nvSpPr>
          <p:cNvPr id="3" name="Content Placeholder 2"/>
          <p:cNvSpPr>
            <a:spLocks noGrp="1"/>
          </p:cNvSpPr>
          <p:nvPr>
            <p:ph idx="1"/>
          </p:nvPr>
        </p:nvSpPr>
        <p:spPr/>
        <p:txBody>
          <a:bodyPr/>
          <a:lstStyle/>
          <a:p>
            <a:r>
              <a:rPr lang="en-ZA" dirty="0"/>
              <a:t>The plunge is the deviation from the horizontal in the vertical plane that contains the linear element. The value of the plunge varies from 0 to 90. So, a pencil that is oriented horizontally has a plunge of 0, a pencil that is oriented vertically has a plunge of 90, a pencil that is oriented halfway has a plunge of 45. </a:t>
            </a:r>
            <a:r>
              <a:rPr lang="en-ZA" b="1" dirty="0"/>
              <a:t>In structural geology, the plunge is always downward into the Earth</a:t>
            </a:r>
            <a:r>
              <a:rPr lang="en-ZA" dirty="0"/>
              <a:t>. </a:t>
            </a:r>
          </a:p>
          <a:p>
            <a:endParaRPr lang="en-ZA" dirty="0"/>
          </a:p>
        </p:txBody>
      </p:sp>
    </p:spTree>
    <p:extLst>
      <p:ext uri="{BB962C8B-B14F-4D97-AF65-F5344CB8AC3E}">
        <p14:creationId xmlns:p14="http://schemas.microsoft.com/office/powerpoint/2010/main" val="495519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Annotation</a:t>
            </a:r>
          </a:p>
        </p:txBody>
      </p:sp>
      <p:sp>
        <p:nvSpPr>
          <p:cNvPr id="3" name="Content Placeholder 2"/>
          <p:cNvSpPr>
            <a:spLocks noGrp="1"/>
          </p:cNvSpPr>
          <p:nvPr>
            <p:ph idx="1"/>
          </p:nvPr>
        </p:nvSpPr>
        <p:spPr/>
        <p:txBody>
          <a:bodyPr>
            <a:normAutofit fontScale="92500" lnSpcReduction="10000"/>
          </a:bodyPr>
          <a:lstStyle/>
          <a:p>
            <a:r>
              <a:rPr lang="en-ZA" dirty="0"/>
              <a:t>15              125  means a plane that dips 15 degrees towards the SE </a:t>
            </a:r>
            <a:r>
              <a:rPr lang="en-ZA" dirty="0" err="1"/>
              <a:t>ie</a:t>
            </a:r>
            <a:r>
              <a:rPr lang="en-ZA" dirty="0"/>
              <a:t> 125 degrees from North. This the dip/direction of dip annotation</a:t>
            </a:r>
          </a:p>
          <a:p>
            <a:endParaRPr lang="en-ZA" dirty="0"/>
          </a:p>
          <a:p>
            <a:r>
              <a:rPr lang="en-ZA" dirty="0"/>
              <a:t>15/125  is the annotation for plunge/trend of a line. </a:t>
            </a:r>
          </a:p>
          <a:p>
            <a:r>
              <a:rPr lang="en-ZA" b="1" dirty="0"/>
              <a:t>Please note that  the plunge/trend annotation  as shown for a linear feature is often also used for planes. It  thus critical to indicate clearly what your annotation represents.</a:t>
            </a:r>
          </a:p>
        </p:txBody>
      </p:sp>
      <p:cxnSp>
        <p:nvCxnSpPr>
          <p:cNvPr id="5" name="Straight Arrow Connector 4"/>
          <p:cNvCxnSpPr/>
          <p:nvPr/>
        </p:nvCxnSpPr>
        <p:spPr>
          <a:xfrm>
            <a:off x="1475656" y="1916832"/>
            <a:ext cx="8640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198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Map Symbols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4716" y="1484784"/>
            <a:ext cx="6743668" cy="4879140"/>
          </a:xfrm>
        </p:spPr>
      </p:pic>
    </p:spTree>
    <p:extLst>
      <p:ext uri="{BB962C8B-B14F-4D97-AF65-F5344CB8AC3E}">
        <p14:creationId xmlns:p14="http://schemas.microsoft.com/office/powerpoint/2010/main" val="3483884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E9DC-7190-E05F-4C08-A0012E640A7B}"/>
              </a:ext>
            </a:extLst>
          </p:cNvPr>
          <p:cNvSpPr>
            <a:spLocks noGrp="1"/>
          </p:cNvSpPr>
          <p:nvPr>
            <p:ph type="title"/>
          </p:nvPr>
        </p:nvSpPr>
        <p:spPr/>
        <p:txBody>
          <a:bodyPr/>
          <a:lstStyle/>
          <a:p>
            <a:r>
              <a:rPr lang="en-US" dirty="0"/>
              <a:t>How to measure a planar feature-1</a:t>
            </a:r>
            <a:endParaRPr lang="en-ZA" dirty="0"/>
          </a:p>
        </p:txBody>
      </p:sp>
      <p:sp>
        <p:nvSpPr>
          <p:cNvPr id="3" name="Content Placeholder 2">
            <a:extLst>
              <a:ext uri="{FF2B5EF4-FFF2-40B4-BE49-F238E27FC236}">
                <a16:creationId xmlns:a16="http://schemas.microsoft.com/office/drawing/2014/main" id="{B7135594-79CD-6AAD-BBF9-D715BE71DF92}"/>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a:t>Adjust  the  magnetic declination</a:t>
            </a:r>
          </a:p>
          <a:p>
            <a:pPr marL="514350" indent="-514350">
              <a:buFont typeface="+mj-lt"/>
              <a:buAutoNum type="arabicPeriod"/>
            </a:pPr>
            <a:r>
              <a:rPr lang="en-US" dirty="0"/>
              <a:t>Put  the lid of the compass firmly on the plane and </a:t>
            </a:r>
            <a:r>
              <a:rPr lang="en-US" dirty="0" err="1"/>
              <a:t>manoevre</a:t>
            </a:r>
            <a:r>
              <a:rPr lang="en-US" dirty="0"/>
              <a:t> it together with rotation  along  the hinge line, until the bubble is central in the ring.  This is necessary for the needle to be able to move</a:t>
            </a:r>
          </a:p>
          <a:p>
            <a:pPr marL="514350" indent="-514350">
              <a:buFont typeface="+mj-lt"/>
              <a:buAutoNum type="arabicPeriod"/>
            </a:pPr>
            <a:r>
              <a:rPr lang="en-US" dirty="0"/>
              <a:t>Note that  the hinge is now parallel to the strike line. Mark its orientation with e.g., a pencil</a:t>
            </a:r>
          </a:p>
          <a:p>
            <a:pPr marL="514350" indent="-514350">
              <a:buFont typeface="+mj-lt"/>
              <a:buAutoNum type="arabicPeriod"/>
            </a:pPr>
            <a:r>
              <a:rPr lang="en-US" dirty="0"/>
              <a:t>When the needle stops moving, lock its movement (on the Freiberger and Krantz compasses by pressing  or releasing  the brake button) but on the Silva and the Brunton compasses turn the dial until the red arrow coincides with the red needle  </a:t>
            </a:r>
            <a:endParaRPr lang="en-ZA" dirty="0"/>
          </a:p>
        </p:txBody>
      </p:sp>
    </p:spTree>
    <p:extLst>
      <p:ext uri="{BB962C8B-B14F-4D97-AF65-F5344CB8AC3E}">
        <p14:creationId xmlns:p14="http://schemas.microsoft.com/office/powerpoint/2010/main" val="3955188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6B03B-387E-50D3-F927-715DE6BD90D1}"/>
              </a:ext>
            </a:extLst>
          </p:cNvPr>
          <p:cNvSpPr>
            <a:spLocks noGrp="1"/>
          </p:cNvSpPr>
          <p:nvPr>
            <p:ph type="title"/>
          </p:nvPr>
        </p:nvSpPr>
        <p:spPr/>
        <p:txBody>
          <a:bodyPr/>
          <a:lstStyle/>
          <a:p>
            <a:r>
              <a:rPr lang="en-US" dirty="0"/>
              <a:t>How to measure a planar feature-2</a:t>
            </a:r>
            <a:endParaRPr lang="en-ZA" dirty="0"/>
          </a:p>
        </p:txBody>
      </p:sp>
      <p:sp>
        <p:nvSpPr>
          <p:cNvPr id="3" name="Content Placeholder 2">
            <a:extLst>
              <a:ext uri="{FF2B5EF4-FFF2-40B4-BE49-F238E27FC236}">
                <a16:creationId xmlns:a16="http://schemas.microsoft.com/office/drawing/2014/main" id="{6CEEE761-7D5F-795D-CB88-62640AD1BA4A}"/>
              </a:ext>
            </a:extLst>
          </p:cNvPr>
          <p:cNvSpPr>
            <a:spLocks noGrp="1"/>
          </p:cNvSpPr>
          <p:nvPr>
            <p:ph idx="1"/>
          </p:nvPr>
        </p:nvSpPr>
        <p:spPr/>
        <p:txBody>
          <a:bodyPr>
            <a:normAutofit fontScale="85000" lnSpcReduction="20000"/>
          </a:bodyPr>
          <a:lstStyle/>
          <a:p>
            <a:pPr marL="0" indent="0">
              <a:buNone/>
            </a:pPr>
            <a:r>
              <a:rPr lang="en-US" dirty="0"/>
              <a:t>5  Read the orientation of the red needle when the angle between the lid and the compass is &gt;90 degrees </a:t>
            </a:r>
            <a:r>
              <a:rPr lang="en-US" dirty="0" err="1"/>
              <a:t>ie</a:t>
            </a:r>
            <a:r>
              <a:rPr lang="en-US" dirty="0"/>
              <a:t> the lid is open on all compasses. Use the white  needle if  the angle is &lt;90 degrees. On all compasses read it at  the mark on the hinge side of the compass, if the angle between Lid and compass is &lt;90 degrees. If that angle is &gt;90 degrees read it  on the mark at  the bottom of the dial. Some Brunton compasses  have a  little window at the bottom with  both readings. Choose the correct one, </a:t>
            </a:r>
            <a:r>
              <a:rPr lang="en-US" dirty="0" err="1"/>
              <a:t>ie</a:t>
            </a:r>
            <a:r>
              <a:rPr lang="en-US" dirty="0"/>
              <a:t> know roughly where North is and thus in which direction it is dipping as the numbers in the window are 180 degrees apart.</a:t>
            </a:r>
            <a:endParaRPr lang="en-ZA" dirty="0"/>
          </a:p>
        </p:txBody>
      </p:sp>
    </p:spTree>
    <p:extLst>
      <p:ext uri="{BB962C8B-B14F-4D97-AF65-F5344CB8AC3E}">
        <p14:creationId xmlns:p14="http://schemas.microsoft.com/office/powerpoint/2010/main" val="3908444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B91EB-1BD5-F50C-C6BA-76CFC1510108}"/>
              </a:ext>
            </a:extLst>
          </p:cNvPr>
          <p:cNvSpPr>
            <a:spLocks noGrp="1"/>
          </p:cNvSpPr>
          <p:nvPr>
            <p:ph type="title"/>
          </p:nvPr>
        </p:nvSpPr>
        <p:spPr/>
        <p:txBody>
          <a:bodyPr/>
          <a:lstStyle/>
          <a:p>
            <a:r>
              <a:rPr lang="en-US" dirty="0"/>
              <a:t>How to measure a planar feature-3</a:t>
            </a:r>
            <a:endParaRPr lang="en-ZA" dirty="0"/>
          </a:p>
        </p:txBody>
      </p:sp>
      <p:sp>
        <p:nvSpPr>
          <p:cNvPr id="3" name="Content Placeholder 2">
            <a:extLst>
              <a:ext uri="{FF2B5EF4-FFF2-40B4-BE49-F238E27FC236}">
                <a16:creationId xmlns:a16="http://schemas.microsoft.com/office/drawing/2014/main" id="{1756D4D0-91CA-44CF-9775-773A2C683983}"/>
              </a:ext>
            </a:extLst>
          </p:cNvPr>
          <p:cNvSpPr>
            <a:spLocks noGrp="1"/>
          </p:cNvSpPr>
          <p:nvPr>
            <p:ph idx="1"/>
          </p:nvPr>
        </p:nvSpPr>
        <p:spPr/>
        <p:txBody>
          <a:bodyPr>
            <a:normAutofit fontScale="70000" lnSpcReduction="20000"/>
          </a:bodyPr>
          <a:lstStyle/>
          <a:p>
            <a:pPr marL="0" indent="0">
              <a:buNone/>
            </a:pPr>
            <a:r>
              <a:rPr lang="en-US" dirty="0"/>
              <a:t>6 In the case of the Freiberger and Krantz, the dip is shown at  the hinge on the outside of the compass.</a:t>
            </a:r>
          </a:p>
          <a:p>
            <a:pPr marL="0" indent="0">
              <a:buNone/>
            </a:pPr>
            <a:r>
              <a:rPr lang="en-US" dirty="0"/>
              <a:t>7 On the Silva and  Brunton you have a different method to obtain the dip</a:t>
            </a:r>
          </a:p>
          <a:p>
            <a:r>
              <a:rPr lang="en-US" dirty="0"/>
              <a:t>On the round dial you see that one half has numbers on the inside of the circular dial. Turn the dial  in such a way that  the half circle of numbers is parallel to the side of the compass. </a:t>
            </a:r>
          </a:p>
          <a:p>
            <a:r>
              <a:rPr lang="en-US" dirty="0"/>
              <a:t>Put that side on the rock perpendicular  to the strike mark you made earlier</a:t>
            </a:r>
          </a:p>
          <a:p>
            <a:r>
              <a:rPr lang="en-US" dirty="0"/>
              <a:t>Read the number pointed at by  the little red arrow – this the amount of dip. You may have to gently tilt the compass to lie “on its back” without moving  the red arrow, to be able to read it off</a:t>
            </a:r>
          </a:p>
          <a:p>
            <a:pPr marL="0" indent="0">
              <a:buNone/>
            </a:pPr>
            <a:endParaRPr lang="en-ZA" dirty="0"/>
          </a:p>
        </p:txBody>
      </p:sp>
    </p:spTree>
    <p:extLst>
      <p:ext uri="{BB962C8B-B14F-4D97-AF65-F5344CB8AC3E}">
        <p14:creationId xmlns:p14="http://schemas.microsoft.com/office/powerpoint/2010/main" val="1116228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B7A5D-1F58-C622-0B04-62135C55C247}"/>
              </a:ext>
            </a:extLst>
          </p:cNvPr>
          <p:cNvSpPr>
            <a:spLocks noGrp="1"/>
          </p:cNvSpPr>
          <p:nvPr>
            <p:ph type="title"/>
          </p:nvPr>
        </p:nvSpPr>
        <p:spPr/>
        <p:txBody>
          <a:bodyPr/>
          <a:lstStyle/>
          <a:p>
            <a:r>
              <a:rPr lang="en-US"/>
              <a:t>How to measure a linear feature</a:t>
            </a:r>
            <a:endParaRPr lang="en-ZA" dirty="0"/>
          </a:p>
        </p:txBody>
      </p:sp>
      <p:sp>
        <p:nvSpPr>
          <p:cNvPr id="3" name="Content Placeholder 2">
            <a:extLst>
              <a:ext uri="{FF2B5EF4-FFF2-40B4-BE49-F238E27FC236}">
                <a16:creationId xmlns:a16="http://schemas.microsoft.com/office/drawing/2014/main" id="{E8EC3C21-CD04-253E-9143-960C5510293E}"/>
              </a:ext>
            </a:extLst>
          </p:cNvPr>
          <p:cNvSpPr>
            <a:spLocks noGrp="1"/>
          </p:cNvSpPr>
          <p:nvPr>
            <p:ph idx="1"/>
          </p:nvPr>
        </p:nvSpPr>
        <p:spPr/>
        <p:txBody>
          <a:bodyPr>
            <a:normAutofit fontScale="77500" lnSpcReduction="20000"/>
          </a:bodyPr>
          <a:lstStyle/>
          <a:p>
            <a:pPr marL="514350" indent="-514350">
              <a:buFont typeface="+mj-lt"/>
              <a:buAutoNum type="arabicPeriod"/>
            </a:pPr>
            <a:r>
              <a:rPr lang="en-US" dirty="0"/>
              <a:t>Use the edge of the lid  and put  it firmly against  the rock on the linear feature</a:t>
            </a:r>
          </a:p>
          <a:p>
            <a:pPr marL="514350" indent="-514350">
              <a:buFont typeface="+mj-lt"/>
              <a:buAutoNum type="arabicPeriod"/>
            </a:pPr>
            <a:r>
              <a:rPr lang="en-US" dirty="0" err="1"/>
              <a:t>Manoevre</a:t>
            </a:r>
            <a:r>
              <a:rPr lang="en-US" dirty="0"/>
              <a:t> the compass by using the  edge on the rock as an axel to swivel the whole compass while using the hinge line  to move  the compass part up  and down until  the bubble is in the circle, all while keeping the edge on the linear feature</a:t>
            </a:r>
          </a:p>
          <a:p>
            <a:pPr marL="514350" indent="-514350">
              <a:buFont typeface="+mj-lt"/>
              <a:buAutoNum type="arabicPeriod"/>
            </a:pPr>
            <a:r>
              <a:rPr lang="en-US" dirty="0"/>
              <a:t>You can now read  on the Brunton and Krantz, but  on Silva and Brunton you  can now turn the dial until the red arrow coincides with the red needle, after which you can read the trend</a:t>
            </a:r>
          </a:p>
          <a:p>
            <a:pPr marL="514350" indent="-514350">
              <a:buFont typeface="+mj-lt"/>
              <a:buAutoNum type="arabicPeriod"/>
            </a:pPr>
            <a:r>
              <a:rPr lang="en-US" dirty="0"/>
              <a:t>You can </a:t>
            </a:r>
            <a:r>
              <a:rPr lang="en-US" dirty="0" err="1"/>
              <a:t>can</a:t>
            </a:r>
            <a:r>
              <a:rPr lang="en-US" dirty="0"/>
              <a:t> measure the dip in the same way as for planar features</a:t>
            </a:r>
            <a:endParaRPr lang="en-ZA" dirty="0"/>
          </a:p>
        </p:txBody>
      </p:sp>
    </p:spTree>
    <p:extLst>
      <p:ext uri="{BB962C8B-B14F-4D97-AF65-F5344CB8AC3E}">
        <p14:creationId xmlns:p14="http://schemas.microsoft.com/office/powerpoint/2010/main" val="2417991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542</TotalTime>
  <Words>1680</Words>
  <Application>Microsoft Office PowerPoint</Application>
  <PresentationFormat>On-screen Show (4:3)</PresentationFormat>
  <Paragraphs>74</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The Geological Compass</vt:lpstr>
      <vt:lpstr>Krantz, Freiberger and Silva compasses</vt:lpstr>
      <vt:lpstr>Compasses at UWC</vt:lpstr>
      <vt:lpstr>Freiberger compass</vt:lpstr>
      <vt:lpstr>Silva compass</vt:lpstr>
      <vt:lpstr>Why Measure?</vt:lpstr>
      <vt:lpstr>What to measure</vt:lpstr>
      <vt:lpstr>Dip</vt:lpstr>
      <vt:lpstr>Dip</vt:lpstr>
      <vt:lpstr>STRIKE</vt:lpstr>
      <vt:lpstr>Strike, here shown as the dotted line; dip is  indicated by  the arrow</vt:lpstr>
      <vt:lpstr>DIP / Direction of Dip</vt:lpstr>
      <vt:lpstr>Azimuth</vt:lpstr>
      <vt:lpstr>Azimuth - 2</vt:lpstr>
      <vt:lpstr>Magnetic declination</vt:lpstr>
      <vt:lpstr>Declination</vt:lpstr>
      <vt:lpstr>Adjustment of compass</vt:lpstr>
      <vt:lpstr>Adjustment of compass</vt:lpstr>
      <vt:lpstr>Trend</vt:lpstr>
      <vt:lpstr>Trend/ plunge</vt:lpstr>
      <vt:lpstr>Plunge</vt:lpstr>
      <vt:lpstr>Plunge</vt:lpstr>
      <vt:lpstr>Annotation</vt:lpstr>
      <vt:lpstr>Map Symbols</vt:lpstr>
      <vt:lpstr>How to measure a planar feature-1</vt:lpstr>
      <vt:lpstr>How to measure a planar feature-2</vt:lpstr>
      <vt:lpstr>How to measure a planar feature-3</vt:lpstr>
      <vt:lpstr>How to measure a linear feature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Geological Compass</dc:title>
  <dc:creator>Test</dc:creator>
  <cp:lastModifiedBy>Jan van Bever Donker</cp:lastModifiedBy>
  <cp:revision>9</cp:revision>
  <dcterms:created xsi:type="dcterms:W3CDTF">2014-04-14T09:16:57Z</dcterms:created>
  <dcterms:modified xsi:type="dcterms:W3CDTF">2026-04-07T21:16:06Z</dcterms:modified>
</cp:coreProperties>
</file>